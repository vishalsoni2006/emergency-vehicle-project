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41"/>
    <p:restoredTop sz="94610"/>
  </p:normalViewPr>
  <p:slideViewPr>
    <p:cSldViewPr snapToGrid="0" snapToObjects="1">
      <p:cViewPr>
        <p:scale>
          <a:sx n="107" d="100"/>
          <a:sy n="107" d="100"/>
        </p:scale>
        <p:origin x="-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75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1F197-37FC-4BE3-A3D3-B5F8C40176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2121"/>
            <a:ext cx="10566400" cy="432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2121"/>
            <a:ext cx="10566400" cy="432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692640" y="822960"/>
            <a:ext cx="914400" cy="5486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flipV="1">
            <a:off x="10607040" y="640080"/>
            <a:ext cx="731520" cy="73152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H="1">
            <a:off x="10241280" y="640080"/>
            <a:ext cx="1097280" cy="14630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 flipV="1">
            <a:off x="10241280" y="1828800"/>
            <a:ext cx="1280160" cy="27432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 flipH="1" flipV="1">
            <a:off x="9326880" y="1737360"/>
            <a:ext cx="2194560" cy="914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9326880" y="1737360"/>
            <a:ext cx="1645920" cy="10058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651600" y="78192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0566000" y="13305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1297520" y="59904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0200240" y="206208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1480400" y="17877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9285840" y="169632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0931760" y="27021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321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692640" y="822960"/>
            <a:ext cx="914400" cy="5486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 flipV="1">
            <a:off x="10607040" y="640080"/>
            <a:ext cx="731520" cy="73152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 flipH="1">
            <a:off x="10241280" y="640080"/>
            <a:ext cx="1097280" cy="14630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 flipV="1">
            <a:off x="10241280" y="1828800"/>
            <a:ext cx="1280160" cy="27432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 flipH="1" flipV="1">
            <a:off x="9326880" y="1737360"/>
            <a:ext cx="2194560" cy="914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9326880" y="1737360"/>
            <a:ext cx="1645920" cy="1005840"/>
          </a:xfrm>
          <a:prstGeom prst="line">
            <a:avLst/>
          </a:prstGeom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651600" y="78192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0566000" y="13305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1297520" y="59904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10200240" y="206208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1480400" y="17877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9285840" y="169632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10931760" y="2702160"/>
            <a:ext cx="82080" cy="8208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22960" y="12344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00" dirty="0">
                <a:solidFill>
                  <a:srgbClr val="0EA5C4"/>
                </a:solidFill>
                <a:effectLst/>
                <a:uFillTx/>
                <a:latin typeface="Calibri"/>
                <a:ea typeface="Calibri"/>
              </a:rPr>
              <a:t>CSE ENGINEERING PROJECT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822960" y="1645920"/>
            <a:ext cx="987516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AI-Based Traffic Signal Control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with Ambulance Priority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22960" y="34290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i="1" u="none" strike="noStrike">
                <a:solidFill>
                  <a:srgbClr val="B9C6E3"/>
                </a:solidFill>
                <a:effectLst/>
                <a:uFillTx/>
                <a:latin typeface="Calibri"/>
                <a:ea typeface="Calibri"/>
              </a:rPr>
              <a:t>Real-Time Ambulance Detection and Intelligent Traffic Signal Control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836640" y="3945600"/>
            <a:ext cx="63720" cy="637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037880" y="3945600"/>
            <a:ext cx="63720" cy="63720"/>
          </a:xfrm>
          <a:prstGeom prst="ellipse">
            <a:avLst/>
          </a:prstGeom>
          <a:solidFill>
            <a:srgbClr val="1D5F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1239120" y="3945600"/>
            <a:ext cx="63720" cy="637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1440360" y="3945600"/>
            <a:ext cx="63720" cy="63720"/>
          </a:xfrm>
          <a:prstGeom prst="ellipse">
            <a:avLst/>
          </a:prstGeom>
          <a:solidFill>
            <a:srgbClr val="1D5F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641240" y="3945600"/>
            <a:ext cx="63720" cy="637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22960" y="4343400"/>
            <a:ext cx="1828440" cy="868320"/>
          </a:xfrm>
          <a:prstGeom prst="roundRect">
            <a:avLst>
              <a:gd name="adj" fmla="val 8421"/>
            </a:avLst>
          </a:prstGeom>
          <a:solidFill>
            <a:srgbClr val="1E2E52"/>
          </a:solidFill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1591200" y="4434840"/>
            <a:ext cx="292320" cy="2923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22960" y="47548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</a:rPr>
              <a:t>Divyansh Agarwal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822960" y="497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0DA"/>
                </a:solidFill>
                <a:effectLst/>
                <a:uFillTx/>
                <a:latin typeface="Calibri"/>
                <a:ea typeface="Calibri"/>
              </a:rPr>
              <a:t>Member 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2816280" y="4343400"/>
            <a:ext cx="1828440" cy="868320"/>
          </a:xfrm>
          <a:prstGeom prst="roundRect">
            <a:avLst>
              <a:gd name="adj" fmla="val 8421"/>
            </a:avLst>
          </a:prstGeom>
          <a:solidFill>
            <a:srgbClr val="1E2E52"/>
          </a:solidFill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3584520" y="4434840"/>
            <a:ext cx="292320" cy="2923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2816280" y="47548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</a:rPr>
              <a:t>Vishal Soni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2816280" y="497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0DA"/>
                </a:solidFill>
                <a:effectLst/>
                <a:uFillTx/>
                <a:latin typeface="Calibri"/>
                <a:ea typeface="Calibri"/>
              </a:rPr>
              <a:t>Member 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4809600" y="4343400"/>
            <a:ext cx="1828440" cy="868320"/>
          </a:xfrm>
          <a:prstGeom prst="roundRect">
            <a:avLst>
              <a:gd name="adj" fmla="val 8421"/>
            </a:avLst>
          </a:prstGeom>
          <a:solidFill>
            <a:srgbClr val="1E2E52"/>
          </a:solidFill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5577840" y="4434840"/>
            <a:ext cx="292320" cy="2923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4809600" y="47548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</a:rPr>
              <a:t>Pranav Chauhan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4809600" y="497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0DA"/>
                </a:solidFill>
                <a:effectLst/>
                <a:uFillTx/>
                <a:latin typeface="Calibri"/>
                <a:ea typeface="Calibri"/>
              </a:rPr>
              <a:t>Member 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6803280" y="4343400"/>
            <a:ext cx="1828440" cy="868320"/>
          </a:xfrm>
          <a:prstGeom prst="roundRect">
            <a:avLst>
              <a:gd name="adj" fmla="val 8421"/>
            </a:avLst>
          </a:prstGeom>
          <a:solidFill>
            <a:srgbClr val="1E2E52"/>
          </a:solidFill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7571160" y="4434840"/>
            <a:ext cx="292320" cy="2923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6803280" y="47548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</a:rPr>
              <a:t>Srikant Khatri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6803280" y="497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0DA"/>
                </a:solidFill>
                <a:effectLst/>
                <a:uFillTx/>
                <a:latin typeface="Calibri"/>
                <a:ea typeface="Calibri"/>
              </a:rPr>
              <a:t>Member 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8796600" y="4343400"/>
            <a:ext cx="1828440" cy="868320"/>
          </a:xfrm>
          <a:prstGeom prst="roundRect">
            <a:avLst>
              <a:gd name="adj" fmla="val 8421"/>
            </a:avLst>
          </a:prstGeom>
          <a:solidFill>
            <a:srgbClr val="1E2E52"/>
          </a:solidFill>
          <a:ln w="12700">
            <a:solidFill>
              <a:srgbClr val="3550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9564480" y="4434840"/>
            <a:ext cx="292320" cy="292320"/>
          </a:xfrm>
          <a:prstGeom prst="ellipse">
            <a:avLst/>
          </a:prstGeom>
          <a:solidFill>
            <a:srgbClr val="0EA5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3"/>
          <p:cNvSpPr/>
          <p:nvPr/>
        </p:nvSpPr>
        <p:spPr>
          <a:xfrm>
            <a:off x="8796600" y="47548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</a:rPr>
              <a:t>Ritam Deep Chowdhury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4"/>
          <p:cNvSpPr/>
          <p:nvPr/>
        </p:nvSpPr>
        <p:spPr>
          <a:xfrm>
            <a:off x="8796600" y="497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0DA"/>
                </a:solidFill>
                <a:effectLst/>
                <a:uFillTx/>
                <a:latin typeface="Calibri"/>
                <a:ea typeface="Calibri"/>
              </a:rPr>
              <a:t>Member 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822960" y="5532120"/>
            <a:ext cx="10240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B9C6E3"/>
                </a:solidFill>
                <a:effectLst/>
                <a:uFillTx/>
                <a:latin typeface="Calibri"/>
                <a:ea typeface="Calibri"/>
              </a:rPr>
              <a:t>Supervisor: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</a:rPr>
              <a:t>Manorma Chouhan</a:t>
            </a:r>
            <a:r>
              <a:rPr lang="en-US" sz="1200" b="1" u="none" strike="noStrike" dirty="0">
                <a:solidFill>
                  <a:srgbClr val="B9C6E3"/>
                </a:solidFill>
                <a:effectLst/>
                <a:uFillTx/>
                <a:latin typeface="Calibri"/>
                <a:ea typeface="Calibri"/>
              </a:rPr>
              <a:t>     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822960" y="585216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9CB0DA"/>
                </a:solidFill>
                <a:latin typeface="Calibri"/>
                <a:ea typeface="Calibri"/>
              </a:rPr>
              <a:t>VIT Bhopal University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4402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0083" y="1620520"/>
            <a:ext cx="4512056" cy="3723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run on predefined cycles</a:t>
            </a: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 may meet RED signals in emergencies</a:t>
            </a: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emergency control needs human intervention</a:t>
            </a: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identification of an approaching ambulance</a:t>
            </a: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lane needing priority must be determined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9503" y="2083658"/>
            <a:ext cx="5185410" cy="240665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0" y="2430334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6000" y="2879948"/>
            <a:ext cx="4532416" cy="145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can a traffic signal automatically detect an approaching ambulance and provide GREEN priority to its lane?”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72914" y="3392170"/>
            <a:ext cx="53460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8721" y="1620522"/>
            <a:ext cx="5130698" cy="4441421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807" y="2177428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6525" y="2693048"/>
            <a:ext cx="4229492" cy="3517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timing cycle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GREEN/RED duration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emergency handling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ambulance awareness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lane-level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6000" y="1599658"/>
            <a:ext cx="5130698" cy="44414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9162" y="2118360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85560" y="2698851"/>
            <a:ext cx="4098072" cy="3363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respond dynamically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 may be delayed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human intervention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identify emergency vehicles</a:t>
            </a: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endParaRPr lang="en-US" sz="20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20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determine emergency approach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3695"/>
            <a:ext cx="25209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03400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680" y="20955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traffic signal control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623695"/>
            <a:ext cx="25209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380" y="1803400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5380" y="20955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vision-based traffic monitoring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623695"/>
            <a:ext cx="25209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03400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0955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YOLO-based object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623695"/>
            <a:ext cx="25209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780" y="1803400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34780" y="20955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priority 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2947036"/>
            <a:ext cx="5368290" cy="1898650"/>
          </a:xfrm>
          <a:prstGeom prst="roundRect">
            <a:avLst>
              <a:gd name="adj" fmla="val 5184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3126741"/>
            <a:ext cx="51591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5680" y="3418841"/>
            <a:ext cx="51591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approaches may address vehicle detection or signal control separately. This project combines ambulance detection, lane identification and automatic emergency signal control.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9365" y="2953386"/>
            <a:ext cx="5020310" cy="1885950"/>
          </a:xfrm>
          <a:prstGeom prst="roundRect">
            <a:avLst>
              <a:gd name="adj" fmla="val 6229"/>
            </a:avLst>
          </a:prstGeom>
          <a:solidFill>
            <a:srgbClr val="EEF3FA"/>
          </a:solidFill>
          <a:ln w="19050">
            <a:solidFill>
              <a:srgbClr val="9DB3D1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5A7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ACTUAL RESEARCH PAPER REFERENCES]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&amp;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2152650"/>
            <a:ext cx="18161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259032" rIns="4313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Camera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17800" y="240918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03550" y="2152650"/>
            <a:ext cx="18161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259032" rIns="4313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Frames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02200" y="240918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7950" y="2152650"/>
            <a:ext cx="18161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132" tIns="259032" rIns="4313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40918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2350" y="2037082"/>
            <a:ext cx="1816100" cy="1028700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259032" rIns="4313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/ Ambulance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1000" y="240918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56750" y="2152650"/>
            <a:ext cx="18161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259032" rIns="4313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Identification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150" y="4217671"/>
            <a:ext cx="2362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59032" rIns="3588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3900" y="4474211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9650" y="4217671"/>
            <a:ext cx="2362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59032" rIns="3588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94400" y="4474211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0150" y="4217671"/>
            <a:ext cx="2362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59032" rIns="3588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Signal Controller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24900" y="4474211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0650" y="4217671"/>
            <a:ext cx="2362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59032" rIns="3588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/ GREEN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575056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detects vehicles and ambulances in each frame; a separate decision layer verifies confidence, picks the priority lane and drives the signal controller.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3696"/>
            <a:ext cx="2520950" cy="122047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03400"/>
            <a:ext cx="222638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5680" y="2202182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ambulance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623696"/>
            <a:ext cx="2520950" cy="122047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380" y="1803400"/>
            <a:ext cx="222638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75380" y="2202182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Lane-level emergency priority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623696"/>
            <a:ext cx="2520950" cy="122047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03400"/>
            <a:ext cx="222638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5080" y="2202182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signal decision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623696"/>
            <a:ext cx="2520950" cy="122047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780" y="1803400"/>
            <a:ext cx="222638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4780" y="2202182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AI detection and control logic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053714"/>
            <a:ext cx="10560050" cy="3191510"/>
          </a:xfrm>
          <a:prstGeom prst="roundRect">
            <a:avLst>
              <a:gd name="adj" fmla="val 3084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3233421"/>
            <a:ext cx="1050665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Automatic return to normal cycle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5680" y="3556000"/>
            <a:ext cx="1050665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ambulance clears, the regular signal cycle resumes.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0560" y="17081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203200" y="8191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3200" y="61595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four-way road intersection with CCTV cameras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3198" y="942791"/>
            <a:ext cx="3414157" cy="1344930"/>
          </a:xfrm>
          <a:prstGeom prst="roundRect">
            <a:avLst>
              <a:gd name="adj" fmla="val 7318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7083" y="1109031"/>
            <a:ext cx="31463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7083" y="1358716"/>
            <a:ext cx="31463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signal cycle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30282" y="942791"/>
            <a:ext cx="3414236" cy="1344930"/>
          </a:xfrm>
          <a:prstGeom prst="roundRect">
            <a:avLst>
              <a:gd name="adj" fmla="val 7318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64164" y="1058589"/>
            <a:ext cx="31464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64163" y="1353825"/>
            <a:ext cx="314647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detected → lane identified → emergency priority → ambulance lane GREEN → conflicting lanes 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57445" y="927141"/>
            <a:ext cx="3414157" cy="1344930"/>
          </a:xfrm>
          <a:prstGeom prst="roundRect">
            <a:avLst>
              <a:gd name="adj" fmla="val 7318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1328" y="1109031"/>
            <a:ext cx="31463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AMBULANCE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91328" y="1482091"/>
            <a:ext cx="31463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cycle resumes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362712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28ECF6-4D9C-F62E-AFED-A3F60BF29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7" y="2486756"/>
            <a:ext cx="11765283" cy="4066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Software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626871"/>
            <a:ext cx="519430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1833882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3442" y="2194561"/>
            <a:ext cx="481878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/ Laptop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CCTV / video camera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traffic-light / LED simulation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8550" y="1626871"/>
            <a:ext cx="519430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560" y="1833882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82842" y="2194561"/>
            <a:ext cx="481878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· Ultralytics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· NumPy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processing environment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interface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858896"/>
            <a:ext cx="52006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038600"/>
            <a:ext cx="49864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5680" y="4330700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video / CCTV footage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3858896"/>
            <a:ext cx="520065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038600"/>
            <a:ext cx="49864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330700"/>
            <a:ext cx="498647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detection + ambulance detection + lane identification + signal control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0521"/>
            <a:ext cx="1778000" cy="10414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 wrap="square" lIns="180882" tIns="130082" rIns="79282" bIns="130082" rtlCol="0" anchor="ctr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LAYER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1620521"/>
            <a:ext cx="1778000" cy="1041400"/>
          </a:xfrm>
          <a:custGeom>
            <a:avLst/>
            <a:gdLst/>
            <a:ahLst/>
            <a:cxnLst/>
            <a:rect l="l" t="t" r="r" b="b"/>
            <a:pathLst>
              <a:path w="1778000" h="1041400">
                <a:moveTo>
                  <a:pt x="76200" y="1041400"/>
                </a:moveTo>
                <a:lnTo>
                  <a:pt x="76200" y="10414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965200"/>
                </a:lnTo>
                <a:arcTo wR="25400" hR="76200" stAng="10800000" swAng="-5400000"/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24150" y="1742442"/>
            <a:ext cx="188595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024" tIns="259032" rIns="43024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Camera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2650" y="19989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78400" y="1742442"/>
            <a:ext cx="188595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024" tIns="259032" rIns="43024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Frames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6900" y="19989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2650" y="1742442"/>
            <a:ext cx="188595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024" tIns="259032" rIns="43024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01150" y="19989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86900" y="1626871"/>
            <a:ext cx="1885950" cy="1028700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024" tIns="259032" rIns="43024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/ Ambulance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286512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3388364"/>
            <a:ext cx="1778000" cy="810260"/>
          </a:xfrm>
          <a:prstGeom prst="roundRect">
            <a:avLst>
              <a:gd name="adj" fmla="val 9404"/>
            </a:avLst>
          </a:prstGeom>
          <a:solidFill>
            <a:srgbClr val="FFFFFF"/>
          </a:solidFill>
          <a:ln/>
        </p:spPr>
        <p:txBody>
          <a:bodyPr wrap="square" lIns="180882" tIns="130082" rIns="79282" bIns="130082" rtlCol="0" anchor="ctr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800" y="3388364"/>
            <a:ext cx="1778000" cy="810260"/>
          </a:xfrm>
          <a:custGeom>
            <a:avLst/>
            <a:gdLst/>
            <a:ahLst/>
            <a:cxnLst/>
            <a:rect l="l" t="t" r="r" b="b"/>
            <a:pathLst>
              <a:path w="1778000" h="810260">
                <a:moveTo>
                  <a:pt x="76200" y="810260"/>
                </a:moveTo>
                <a:lnTo>
                  <a:pt x="76200" y="8102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34060"/>
                </a:lnTo>
                <a:arcTo wR="25400" hR="76200" stAng="10800000" swAng="-5400000"/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150" y="3394714"/>
            <a:ext cx="2637314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31754" tIns="259032" rIns="31754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Identification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4014" y="365125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29764" y="3394714"/>
            <a:ext cx="2637393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31752" tIns="259032" rIns="3175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49707" y="365125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35457" y="3394714"/>
            <a:ext cx="2637393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31753" tIns="259032" rIns="31752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440182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800" y="4925064"/>
            <a:ext cx="1778000" cy="810260"/>
          </a:xfrm>
          <a:prstGeom prst="roundRect">
            <a:avLst>
              <a:gd name="adj" fmla="val 9404"/>
            </a:avLst>
          </a:prstGeom>
          <a:solidFill>
            <a:srgbClr val="FFFFFF"/>
          </a:solidFill>
          <a:ln/>
        </p:spPr>
        <p:txBody>
          <a:bodyPr wrap="square" lIns="180882" tIns="130082" rIns="79282" bIns="130082" rtlCol="0" anchor="ctr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LAYER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800" y="4925064"/>
            <a:ext cx="1778000" cy="810260"/>
          </a:xfrm>
          <a:custGeom>
            <a:avLst/>
            <a:gdLst/>
            <a:ahLst/>
            <a:cxnLst/>
            <a:rect l="l" t="t" r="r" b="b"/>
            <a:pathLst>
              <a:path w="1778000" h="810260">
                <a:moveTo>
                  <a:pt x="76200" y="810260"/>
                </a:moveTo>
                <a:lnTo>
                  <a:pt x="76200" y="8102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34060"/>
                </a:lnTo>
                <a:arcTo wR="25400" hR="76200" stAng="10800000" swAng="-5400000"/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2724150" y="4931414"/>
            <a:ext cx="4140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9210" tIns="259032" rIns="921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Signal Controller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6900" y="518795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2650" y="4931414"/>
            <a:ext cx="4140200" cy="797560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9210" tIns="259032" rIns="9210" bIns="2336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/ GREEN Output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3696"/>
            <a:ext cx="2520950" cy="1329690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0340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Video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080264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traffic/CCTV video and splits it into frames.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623696"/>
            <a:ext cx="2520950" cy="1329690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380" y="180340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Object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75380" y="2080264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detects vehicles with class, box and confidence.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623696"/>
            <a:ext cx="2520950" cy="1329690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0340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Ambulance Identification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293621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ambulance detections among all classes.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623696"/>
            <a:ext cx="2520950" cy="1329690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780" y="180340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Lane Identification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34780" y="2080264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the ambulance to a lane/approach.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112139"/>
            <a:ext cx="2520950" cy="1311910"/>
          </a:xfrm>
          <a:prstGeom prst="roundRect">
            <a:avLst>
              <a:gd name="adj" fmla="val 75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329184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Emergency 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5680" y="35687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confidence and decides on priority.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112139"/>
            <a:ext cx="2520950" cy="1311910"/>
          </a:xfrm>
          <a:prstGeom prst="roundRect">
            <a:avLst>
              <a:gd name="adj" fmla="val 75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380" y="329184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Traffic Signal Control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75380" y="3568700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lane GREEN, other lanes RED.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112139"/>
            <a:ext cx="2520950" cy="1311910"/>
          </a:xfrm>
          <a:prstGeom prst="roundRect">
            <a:avLst>
              <a:gd name="adj" fmla="val 750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291842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Normal Cycle Recovery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782064"/>
            <a:ext cx="222638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the normal cycle once the ambulance clears.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1938815"/>
            <a:ext cx="18161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70132" rIns="43132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17800" y="210645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03550" y="1823244"/>
            <a:ext cx="1816100" cy="850900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70132" rIns="43132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Traffic Video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02200" y="210645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7950" y="1938815"/>
            <a:ext cx="18161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70132" rIns="43132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Frame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10645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2350" y="1938815"/>
            <a:ext cx="18161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70132" rIns="43132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1000" y="210645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56750" y="1823244"/>
            <a:ext cx="1816100" cy="850900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70132" rIns="43132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Detected?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08014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150" y="3850642"/>
            <a:ext cx="23622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35880" tIns="170132" rIns="35880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Identify Lane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3900" y="40182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49650" y="3850642"/>
            <a:ext cx="23622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35880" tIns="170132" rIns="35880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Confidence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94400" y="40182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80150" y="3850642"/>
            <a:ext cx="2362200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35880" tIns="170132" rIns="35880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24900" y="4018279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0650" y="3735071"/>
            <a:ext cx="2362200" cy="850900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35880" tIns="170132" rIns="35880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Lane GREEN, Other Lanes 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9150" y="5310268"/>
            <a:ext cx="3272314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22229" tIns="170132" rIns="22229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Passes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74014" y="5477911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59764" y="5310268"/>
            <a:ext cx="3272393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22227" tIns="170132" rIns="22228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Normal Cycle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14707" y="5477911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00457" y="5310268"/>
            <a:ext cx="3272393" cy="619760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22228" tIns="170132" rIns="22227" bIns="1447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Coding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3696"/>
            <a:ext cx="198501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034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680" y="2095500"/>
            <a:ext cx="167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programming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9735" y="1623696"/>
            <a:ext cx="198501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9440" y="18034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39440" y="2095500"/>
            <a:ext cx="167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3495" y="1623696"/>
            <a:ext cx="198501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3200" y="18034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83200" y="2095500"/>
            <a:ext cx="167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7255" y="1623696"/>
            <a:ext cx="198501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6960" y="18034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26960" y="2095500"/>
            <a:ext cx="167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/ frame processing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91015" y="1623696"/>
            <a:ext cx="1985010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0720" y="18034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70720" y="2095500"/>
            <a:ext cx="167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9150" y="3155950"/>
            <a:ext cx="1452007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53707" y="3272792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39457" y="3155950"/>
            <a:ext cx="1452086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74093" y="3272792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59843" y="3155950"/>
            <a:ext cx="1452007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94400" y="3272792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0150" y="3155950"/>
            <a:ext cx="1452086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4787" y="3272792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00537" y="3155950"/>
            <a:ext cx="1452007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35093" y="3272792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20843" y="3155950"/>
            <a:ext cx="1452007" cy="518160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43132" tIns="119332" rIns="43132" bIns="939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Control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9150" y="3901440"/>
            <a:ext cx="10550525" cy="2337435"/>
          </a:xfrm>
          <a:prstGeom prst="roundRect">
            <a:avLst>
              <a:gd name="adj" fmla="val 5490"/>
            </a:avLst>
          </a:prstGeom>
          <a:solidFill>
            <a:srgbClr val="EEF3FA"/>
          </a:solidFill>
          <a:ln w="19050">
            <a:solidFill>
              <a:srgbClr val="9DB3D1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/>
              <a:t>GITHUB REPOSITORY LINK: https://</a:t>
            </a:r>
            <a:r>
              <a:rPr lang="en-US" sz="1500" dirty="0" err="1"/>
              <a:t>github.com</a:t>
            </a:r>
            <a:r>
              <a:rPr lang="en-US" sz="1500" dirty="0"/>
              <a:t>/vishalsoni2006/emergency-vehicle-</a:t>
            </a:r>
            <a:r>
              <a:rPr lang="en-US" sz="1500" dirty="0" err="1"/>
              <a:t>project.git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Detection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0082" y="1620521"/>
            <a:ext cx="524261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object detection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detection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identification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and confidence scores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Video-frame processing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3020696"/>
            <a:ext cx="5185410" cy="174879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3200400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output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680" y="3492500"/>
            <a:ext cx="49707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(Class, Bounding Box, Confidence)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925064"/>
            <a:ext cx="53475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“YOLO11 acts as the visual perception layer of our system.”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5344164"/>
            <a:ext cx="53475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BBDBC3-FC01-AEE6-6251-D012554DD1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7993"/>
            <a:ext cx="6005613" cy="4824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Demonstration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5252721"/>
            <a:ext cx="1444149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576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Normal traffic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3149" y="5252721"/>
            <a:ext cx="1444228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Ambulance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53577" y="5252721"/>
            <a:ext cx="1444149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Lane identification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73926" y="5252721"/>
            <a:ext cx="1444228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Emergency GREEN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94354" y="5252721"/>
            <a:ext cx="1444149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Conflicting 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4703" y="5252721"/>
            <a:ext cx="1444149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Ambulance passes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35052" y="5252721"/>
            <a:ext cx="1444149" cy="579120"/>
          </a:xfrm>
          <a:prstGeom prst="roundRect">
            <a:avLst>
              <a:gd name="adj" fmla="val 10965"/>
            </a:avLst>
          </a:prstGeom>
          <a:solidFill>
            <a:srgbClr val="FFFFF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Normal cycle resumes</a:t>
            </a:r>
            <a:endParaRPr lang="en-US" sz="1200" dirty="0"/>
          </a:p>
        </p:txBody>
      </p:sp>
      <p:pic>
        <p:nvPicPr>
          <p:cNvPr id="12" name="WhatsApp Video 2026-08-26 at 16.52.37">
            <a:hlinkClick r:id="" action="ppaction://media"/>
            <a:extLst>
              <a:ext uri="{FF2B5EF4-FFF2-40B4-BE49-F238E27FC236}">
                <a16:creationId xmlns:a16="http://schemas.microsoft.com/office/drawing/2014/main" id="{A105D5B3-1326-AE7A-D15C-0DACA5C609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800" y="1442724"/>
            <a:ext cx="10049871" cy="3274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8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938" y="25417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229546" y="165275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5570221"/>
            <a:ext cx="2052320" cy="36576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/>
        </p:spPr>
        <p:txBody>
          <a:bodyPr wrap="square" lIns="29103" tIns="57601" rIns="29103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1320" y="5570221"/>
            <a:ext cx="2052320" cy="36576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/>
        </p:spPr>
        <p:txBody>
          <a:bodyPr wrap="square" lIns="29103" tIns="57601" rIns="29103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69840" y="5570221"/>
            <a:ext cx="2052320" cy="36576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/>
        </p:spPr>
        <p:txBody>
          <a:bodyPr wrap="square" lIns="29103" tIns="57601" rIns="29103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70B09-D86B-6F21-46E9-8B17D186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" y="1067505"/>
            <a:ext cx="5578340" cy="4868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C8BD41-E002-13C4-F3F6-274A26C97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490" y="1104899"/>
            <a:ext cx="6385560" cy="48310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5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1992635"/>
            <a:ext cx="2362200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08232" rIns="35880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Detected?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63900" y="219837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49650" y="1992635"/>
            <a:ext cx="2362200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08232" rIns="35880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Lane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94400" y="219837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80150" y="1992635"/>
            <a:ext cx="2362200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08232" rIns="35880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24900" y="219837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10650" y="1992635"/>
            <a:ext cx="2362200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208232" rIns="35880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2639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150" y="3972558"/>
            <a:ext cx="3272314" cy="927100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22229" tIns="208232" rIns="22229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Lane GREEN, Other Lanes 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74014" y="429387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9764" y="4088135"/>
            <a:ext cx="3272393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22227" tIns="208232" rIns="22228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Clears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4707" y="4293877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00457" y="4088135"/>
            <a:ext cx="3272393" cy="695960"/>
          </a:xfrm>
          <a:prstGeom prst="roundRect">
            <a:avLst>
              <a:gd name="adj" fmla="val 1186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22228" tIns="208232" rIns="22227" bIns="1828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975" y="5362575"/>
            <a:ext cx="5200650" cy="882650"/>
          </a:xfrm>
          <a:prstGeom prst="roundRect">
            <a:avLst>
              <a:gd name="adj" fmla="val 11151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5680" y="5542285"/>
            <a:ext cx="49864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performs detection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5680" y="5834385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perception layer.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5375" y="5362575"/>
            <a:ext cx="5200650" cy="882650"/>
          </a:xfrm>
          <a:prstGeom prst="roundRect">
            <a:avLst>
              <a:gd name="adj" fmla="val 11151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5542285"/>
            <a:ext cx="49864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separate decision layer controls the signal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5834385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check, emergency mode, signal output.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5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Signal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626877"/>
            <a:ext cx="5194300" cy="2743200"/>
          </a:xfrm>
          <a:prstGeom prst="roundRect">
            <a:avLst>
              <a:gd name="adj" fmla="val 439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59285"/>
            <a:ext cx="48713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260600"/>
            <a:ext cx="48713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follow the normal 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263398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432560" y="2618742"/>
            <a:ext cx="86696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304545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432560" y="3030227"/>
            <a:ext cx="8534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345694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432560" y="3441700"/>
            <a:ext cx="65036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868427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1432560" y="3853185"/>
            <a:ext cx="70437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8550" y="1626877"/>
            <a:ext cx="5194300" cy="2743200"/>
          </a:xfrm>
          <a:prstGeom prst="roundRect">
            <a:avLst>
              <a:gd name="adj" fmla="val 439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0960" y="1859285"/>
            <a:ext cx="48713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0960" y="2260600"/>
            <a:ext cx="48713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ambulance from NORTH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10960" y="263398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791960" y="2618742"/>
            <a:ext cx="86696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10960" y="304545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791960" y="3030227"/>
            <a:ext cx="8534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0960" y="345694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960" y="3441700"/>
            <a:ext cx="65036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0960" y="3868427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791960" y="3853185"/>
            <a:ext cx="70437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4579627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Clears → Resume Normal Cycle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81407" y="1773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98015" y="20782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788559"/>
              </p:ext>
            </p:extLst>
          </p:nvPr>
        </p:nvGraphicFramePr>
        <p:xfrm>
          <a:off x="198015" y="812026"/>
          <a:ext cx="4708108" cy="5578261"/>
        </p:xfrm>
        <a:graphic>
          <a:graphicData uri="http://schemas.openxmlformats.org/drawingml/2006/table">
            <a:tbl>
              <a:tblPr/>
              <a:tblGrid>
                <a:gridCol w="235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ambulance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signal cycle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Ambulance from North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GREEN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Ambulance from South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 GREEN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Ambulance from East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 GREEN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Ambulance from West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GREEN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11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Low-confidence detection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priority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530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Ambulance clears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A3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cycle resumes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034292" y="2095500"/>
            <a:ext cx="42868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6387E-0A29-9355-0A76-406AD5123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764" y="812026"/>
            <a:ext cx="7032132" cy="2829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979073-F05C-8108-559D-8175018AE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764" y="3558577"/>
            <a:ext cx="7032132" cy="32994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84560" y="258757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70154" y="236857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4787" y="2437741"/>
            <a:ext cx="2099945" cy="1165860"/>
          </a:xfrm>
          <a:prstGeom prst="roundRect">
            <a:avLst>
              <a:gd name="adj" fmla="val 844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217" y="2494675"/>
            <a:ext cx="312546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0"/>
              </a:lnSpc>
              <a:buNone/>
            </a:pPr>
            <a:r>
              <a:rPr lang="en-US" sz="2267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 / 550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265747" y="2998911"/>
            <a:ext cx="321095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162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ambulance instances</a:t>
            </a:r>
          </a:p>
          <a:p>
            <a:pPr marL="0" indent="0" algn="l">
              <a:lnSpc>
                <a:spcPts val="1627"/>
              </a:lnSpc>
              <a:buNone/>
            </a:pPr>
            <a:r>
              <a:rPr lang="en-US" sz="1162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correctly detected</a:t>
            </a:r>
            <a:endParaRPr lang="en-US" sz="1162" dirty="0"/>
          </a:p>
        </p:txBody>
      </p:sp>
      <p:sp>
        <p:nvSpPr>
          <p:cNvPr id="7" name="Shape 5"/>
          <p:cNvSpPr/>
          <p:nvPr/>
        </p:nvSpPr>
        <p:spPr>
          <a:xfrm>
            <a:off x="204787" y="3719044"/>
            <a:ext cx="1581785" cy="1165860"/>
          </a:xfrm>
          <a:prstGeom prst="roundRect">
            <a:avLst>
              <a:gd name="adj" fmla="val 8442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217" y="3939545"/>
            <a:ext cx="31254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77.1%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747" y="4390932"/>
            <a:ext cx="31254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recall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3425" y="5062060"/>
            <a:ext cx="6007497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74648" y="5250722"/>
            <a:ext cx="5817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3392" y="5565126"/>
            <a:ext cx="58175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is important: missed ambulances can prevent emergency priority.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need further reduction for reliable traffic-signal control.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59743" y="5060942"/>
            <a:ext cx="4393803" cy="1113790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1925" y="5155559"/>
            <a:ext cx="41554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61926" y="5504175"/>
            <a:ext cx="415542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TP / (TP + FP)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TP / (TP + FN)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425" y="6296658"/>
            <a:ext cx="2362200" cy="416560"/>
          </a:xfrm>
          <a:prstGeom prst="roundRect">
            <a:avLst>
              <a:gd name="adj" fmla="val 19817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68532" rIns="35880" bIns="431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72460" y="6296658"/>
            <a:ext cx="345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47110" y="6296658"/>
            <a:ext cx="2362200" cy="416560"/>
          </a:xfrm>
          <a:prstGeom prst="roundRect">
            <a:avLst>
              <a:gd name="adj" fmla="val 1981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 wrap="square" lIns="35880" tIns="68532" rIns="35880" bIns="431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94400" y="6296658"/>
            <a:ext cx="2540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2692" y="6296658"/>
            <a:ext cx="2362200" cy="416560"/>
          </a:xfrm>
          <a:prstGeom prst="roundRect">
            <a:avLst>
              <a:gd name="adj" fmla="val 19817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68532" rIns="35880" bIns="431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24900" y="6296658"/>
            <a:ext cx="2540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5735" y="6296658"/>
            <a:ext cx="2362200" cy="416560"/>
          </a:xfrm>
          <a:prstGeom prst="roundRect">
            <a:avLst>
              <a:gd name="adj" fmla="val 19817"/>
            </a:avLst>
          </a:prstGeom>
          <a:solidFill>
            <a:srgbClr val="FFFFFF"/>
          </a:solidFill>
          <a:ln w="12700">
            <a:solidFill>
              <a:srgbClr val="9DB3D1"/>
            </a:solidFill>
            <a:prstDash val="solid"/>
          </a:ln>
        </p:spPr>
        <p:txBody>
          <a:bodyPr wrap="square" lIns="35880" tIns="68532" rIns="35880" bIns="4313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Output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0A7C84-EC41-4CFD-ACCF-B4BD2454D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15568" r="52550" b="7888"/>
          <a:stretch>
            <a:fillRect/>
          </a:stretch>
        </p:blipFill>
        <p:spPr>
          <a:xfrm>
            <a:off x="2523295" y="1363151"/>
            <a:ext cx="3737170" cy="35217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480AAC-D2B0-62F7-7549-5EAA97CC5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363151"/>
            <a:ext cx="5602039" cy="32843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5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626877"/>
            <a:ext cx="5194300" cy="258318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1833885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6160" y="2194558"/>
            <a:ext cx="49236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combines computer vision and automated traffic control to detect an ambulance and provide priority to its lane.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3442" y="2758442"/>
            <a:ext cx="481878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vehicle detection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identification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Lane-based emergency detection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signal decision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intervention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8550" y="1626877"/>
            <a:ext cx="5194300" cy="258318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5560" y="1833885"/>
            <a:ext cx="49236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82842" y="2194558"/>
            <a:ext cx="4818786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Multi-intersection ambulance tracking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emergency vehicles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Night-time / adverse-weather detection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occlusion handling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traffic-light hardware integration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/ V2X integration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Edge-device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419600"/>
            <a:ext cx="183316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-Based Traffic Signal Control with Ambulance Priority">
  <a:themeElements>
    <a:clrScheme name="AI-Based Traffic Signal Control with Ambulance Priority">
      <a:dk1>
        <a:srgbClr val="0F1B2D"/>
      </a:dk1>
      <a:lt1>
        <a:srgbClr val="F6F8FB"/>
      </a:lt1>
      <a:dk2>
        <a:srgbClr val="495261"/>
      </a:dk2>
      <a:lt2>
        <a:srgbClr val="DFE2E6"/>
      </a:lt2>
      <a:accent1>
        <a:srgbClr val="0891B2"/>
      </a:accent1>
      <a:accent2>
        <a:srgbClr val="4A5B73"/>
      </a:accent2>
      <a:accent3>
        <a:srgbClr val="2A3A52"/>
      </a:accent3>
      <a:accent4>
        <a:srgbClr val="5A7599"/>
      </a:accent4>
      <a:accent5>
        <a:srgbClr val="B45309"/>
      </a:accent5>
      <a:accent6>
        <a:srgbClr val="059669"/>
      </a:accent6>
      <a:hlink>
        <a:srgbClr val="0563C1"/>
      </a:hlink>
      <a:folHlink>
        <a:srgbClr val="954F72"/>
      </a:folHlink>
    </a:clrScheme>
    <a:fontScheme name="AI-Based Traffic Signal Control with Ambulance Priori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1019</Words>
  <Application>Microsoft Macintosh PowerPoint</Application>
  <PresentationFormat>Widescreen</PresentationFormat>
  <Paragraphs>334</Paragraphs>
  <Slides>20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AI-Based Traffic Signal Control with Ambulance Priority</vt:lpstr>
      <vt:lpstr>PowerPoint Presentation</vt:lpstr>
      <vt:lpstr>The Problem</vt:lpstr>
      <vt:lpstr>Existing System &amp; Limitations</vt:lpstr>
      <vt:lpstr>Literature Review</vt:lpstr>
      <vt:lpstr>Proposed System &amp; Methodology</vt:lpstr>
      <vt:lpstr>Novelty of the Project</vt:lpstr>
      <vt:lpstr>Real-Time Usage</vt:lpstr>
      <vt:lpstr>Hardware &amp; Software Requirements</vt:lpstr>
      <vt:lpstr>Overall System Architecture</vt:lpstr>
      <vt:lpstr>Module Description</vt:lpstr>
      <vt:lpstr>Module Workflow</vt:lpstr>
      <vt:lpstr>Implementation &amp; Coding</vt:lpstr>
      <vt:lpstr>YOLO11 Detection Model</vt:lpstr>
      <vt:lpstr>System Demonstration</vt:lpstr>
      <vt:lpstr>Project Interface</vt:lpstr>
      <vt:lpstr>Emergency Priority Decision</vt:lpstr>
      <vt:lpstr>Traffic Signal Control</vt:lpstr>
      <vt:lpstr>Testing</vt:lpstr>
      <vt:lpstr>Results &amp; Discussion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Traffic Signal Control with Ambulance Priority</dc:title>
  <dc:subject/>
  <dc:creator/>
  <cp:lastModifiedBy>vishal soni</cp:lastModifiedBy>
  <cp:revision>3</cp:revision>
  <dcterms:created xsi:type="dcterms:W3CDTF">2026-10-07T17:14:31Z</dcterms:created>
  <dcterms:modified xsi:type="dcterms:W3CDTF">2026-10-07T21:14:29Z</dcterms:modified>
</cp:coreProperties>
</file>